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18120" y="-228600"/>
            <a:ext cx="4572000" cy="7315200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66760" y="960120"/>
            <a:ext cx="288036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89720" y="1234440"/>
            <a:ext cx="1234440" cy="10058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defRPr sz="4800" b="1">
                <a:solidFill>
                  <a:srgbClr val="A35B7B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8512" y="2423160"/>
            <a:ext cx="2286000" cy="3657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defRPr sz="1900" b="1">
                <a:solidFill>
                  <a:srgbClr val="352B3B"/>
                </a:solidFill>
                <a:latin typeface="Aptos"/>
              </a:defRPr>
            </a:pPr>
            <a:r>
              <a:t>LOKERKU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8512" y="2880360"/>
            <a:ext cx="228600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defRPr sz="1600" b="1">
                <a:solidFill>
                  <a:srgbClr val="A35B7B"/>
                </a:solidFill>
                <a:latin typeface="Aptos"/>
              </a:defRPr>
            </a:pPr>
            <a:r>
              <a:t>Temukan karier</a:t>
            </a:r>
            <a:br/>
            <a:r>
              <a:t>impianmu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406908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67928" y="4215384"/>
            <a:ext cx="786384" cy="1371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defRPr sz="600" b="1">
                <a:solidFill>
                  <a:srgbClr val="352B3B"/>
                </a:solidFill>
                <a:latin typeface="Aptos"/>
              </a:defRPr>
            </a:pPr>
            <a:r>
              <a:t>DESAIN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00032" y="406908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DD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19" y="4215384"/>
            <a:ext cx="786384" cy="1371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defRPr sz="600" b="1">
                <a:solidFill>
                  <a:srgbClr val="352B3B"/>
                </a:solidFill>
                <a:latin typeface="Aptos"/>
              </a:defRPr>
            </a:pPr>
            <a:r>
              <a:t>TEKNOLOGI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440" y="406908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F8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96728" y="4215384"/>
            <a:ext cx="786384" cy="1371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defRPr sz="600" b="1">
                <a:solidFill>
                  <a:srgbClr val="352B3B"/>
                </a:solidFill>
                <a:latin typeface="Aptos"/>
              </a:defRPr>
            </a:pPr>
            <a:r>
              <a:t>BISNIS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"/>
            <a:ext cx="6309360" cy="25603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>
              <a:defRPr sz="1000" b="1">
                <a:solidFill>
                  <a:srgbClr val="A35B7B"/>
                </a:solidFill>
                <a:latin typeface="Aptos"/>
              </a:defRPr>
            </a:pPr>
            <a:r>
              <a:t>PRESENTASI APLIKASI ANDROID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234440"/>
            <a:ext cx="6583680" cy="14173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>
              <a:defRPr sz="3600" b="1">
                <a:solidFill>
                  <a:srgbClr val="352B3B"/>
                </a:solidFill>
                <a:latin typeface="Aptos"/>
              </a:defRPr>
            </a:pPr>
            <a:r>
              <a:t>APLIKASI</a:t>
            </a:r>
            <a:br/>
            <a:r>
              <a:t>LOKERKU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743200"/>
            <a:ext cx="612648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>
              <a:defRPr sz="2100" b="1">
                <a:solidFill>
                  <a:srgbClr val="A35B7B"/>
                </a:solidFill>
                <a:latin typeface="Aptos"/>
              </a:defRPr>
            </a:pPr>
            <a:r>
              <a:t>Pencarian Lowongan Kerja</a:t>
            </a:r>
            <a:br/>
            <a:r>
              <a:t>Berbasis Android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657600"/>
            <a:ext cx="6217920" cy="22860"/>
          </a:xfrm>
          <a:prstGeom prst="rect">
            <a:avLst/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913632"/>
            <a:ext cx="182880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>
              <a:defRPr sz="1100" b="0">
                <a:solidFill>
                  <a:srgbClr val="7C6F7D"/>
                </a:solidFill>
                <a:latin typeface="Aptos"/>
              </a:defRPr>
            </a:pPr>
            <a:r>
              <a:t>Disusun oleh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224528"/>
            <a:ext cx="6217920" cy="34747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>
              <a:defRPr sz="1800" b="1">
                <a:solidFill>
                  <a:srgbClr val="352B3B"/>
                </a:solidFill>
                <a:latin typeface="Aptos"/>
              </a:defRPr>
            </a:pPr>
            <a:r>
              <a:t>VIVIN WIDYA SARAH AMBARITA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3657600" cy="2743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>
              <a:defRPr sz="1400" b="1">
                <a:solidFill>
                  <a:srgbClr val="A35B7B"/>
                </a:solidFill>
                <a:latin typeface="Aptos"/>
              </a:defRPr>
            </a:pPr>
            <a:r>
              <a:t>NIM 2302119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384048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>
              <a:defRPr sz="1000" b="0">
                <a:solidFill>
                  <a:srgbClr val="7C6F7D"/>
                </a:solidFill>
                <a:latin typeface="Aptos"/>
              </a:defRPr>
            </a:pPr>
            <a:r>
              <a:t>Mata Kuliah / Program Studi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68112"/>
            <a:ext cx="3840480" cy="2743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>
              <a:defRPr sz="1400" b="1">
                <a:solidFill>
                  <a:srgbClr val="352B3B"/>
                </a:solidFill>
                <a:latin typeface="Aptos"/>
              </a:defRPr>
            </a:pPr>
            <a:r>
              <a:t>Presentasi Aplikasi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44768"/>
            <a:ext cx="914400" cy="2286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>
              <a:defRPr sz="1000" b="1">
                <a:solidFill>
                  <a:srgbClr val="7C6F7D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18120" y="-320040"/>
            <a:ext cx="4572000" cy="7498079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21040" y="731520"/>
            <a:ext cx="2606040" cy="5349240"/>
          </a:xfrm>
          <a:prstGeom prst="roundRect">
            <a:avLst>
              <a:gd name="adj" fmla="val 12000"/>
            </a:avLst>
          </a:prstGeom>
          <a:solidFill>
            <a:srgbClr val="3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2480" y="841248"/>
            <a:ext cx="2423160" cy="512978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37395" y="868680"/>
            <a:ext cx="573328" cy="64008"/>
          </a:xfrm>
          <a:prstGeom prst="roundRect">
            <a:avLst>
              <a:gd name="adj" fmla="val 12000"/>
            </a:avLst>
          </a:prstGeom>
          <a:solidFill>
            <a:srgbClr val="3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22208" y="1078992"/>
            <a:ext cx="220370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A35B7B"/>
                </a:solidFill>
                <a:latin typeface="Aptos"/>
              </a:defRPr>
            </a:pPr>
            <a:r>
              <a:t>Lokerku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22208" y="1408176"/>
            <a:ext cx="220370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352B3B"/>
                </a:solidFill>
                <a:latin typeface="Aptos"/>
              </a:defRPr>
            </a:pPr>
            <a:r>
              <a:t>Hai, pencari kerja! 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8" y="1700784"/>
            <a:ext cx="220370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0">
                <a:solidFill>
                  <a:srgbClr val="7C6F7D"/>
                </a:solidFill>
                <a:latin typeface="Aptos"/>
              </a:defRPr>
            </a:pPr>
            <a:r>
              <a:t>Temukan karier impianmu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22208" y="2011680"/>
            <a:ext cx="2203704" cy="310896"/>
          </a:xfrm>
          <a:prstGeom prst="roundRect">
            <a:avLst>
              <a:gd name="adj" fmla="val 12000"/>
            </a:avLst>
          </a:prstGeom>
          <a:solidFill>
            <a:srgbClr val="FFF7FA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77072" y="2103120"/>
            <a:ext cx="2093976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500" b="0">
                <a:solidFill>
                  <a:srgbClr val="7C6F7D"/>
                </a:solidFill>
                <a:latin typeface="Aptos"/>
              </a:defRPr>
            </a:pPr>
            <a:r>
              <a:t>⌕  Cari posisi atau perusahaan…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22208" y="2468880"/>
            <a:ext cx="2203704" cy="749808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31936" y="2615184"/>
            <a:ext cx="1432407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352B3B"/>
                </a:solidFill>
                <a:latin typeface="Aptos"/>
              </a:defRPr>
            </a:pPr>
            <a:r>
              <a:t>Karier impianmu</a:t>
            </a:r>
            <a:br/>
            <a:r>
              <a:t>ada di sini!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8874" y="2688336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000" b="1">
                <a:solidFill>
                  <a:srgbClr val="A35B7B"/>
                </a:solidFill>
                <a:latin typeface="Aptos"/>
              </a:defRPr>
            </a:pPr>
            <a:r>
              <a:t>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3364992"/>
            <a:ext cx="220370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352B3B"/>
                </a:solidFill>
                <a:latin typeface="Aptos"/>
              </a:defRPr>
            </a:pPr>
            <a:r>
              <a:t>Kategori pekerjaan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22208" y="3621024"/>
            <a:ext cx="707136" cy="566928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3822191"/>
            <a:ext cx="707136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600" b="1">
                <a:solidFill>
                  <a:srgbClr val="352B3B"/>
                </a:solidFill>
                <a:latin typeface="Aptos"/>
              </a:defRPr>
            </a:pPr>
            <a:r>
              <a:t>Desain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75064" y="3621024"/>
            <a:ext cx="707136" cy="566928"/>
          </a:xfrm>
          <a:prstGeom prst="roundRect">
            <a:avLst>
              <a:gd name="adj" fmla="val 12000"/>
            </a:avLst>
          </a:prstGeom>
          <a:solidFill>
            <a:srgbClr val="DD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75064" y="3822191"/>
            <a:ext cx="707136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600" b="1">
                <a:solidFill>
                  <a:srgbClr val="352B3B"/>
                </a:solidFill>
                <a:latin typeface="Aptos"/>
              </a:defRPr>
            </a:pPr>
            <a:r>
              <a:t>Teknologi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27920" y="3621024"/>
            <a:ext cx="707136" cy="566928"/>
          </a:xfrm>
          <a:prstGeom prst="roundRect">
            <a:avLst>
              <a:gd name="adj" fmla="val 12000"/>
            </a:avLst>
          </a:prstGeom>
          <a:solidFill>
            <a:srgbClr val="F8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27920" y="3822191"/>
            <a:ext cx="707136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600" b="1">
                <a:solidFill>
                  <a:srgbClr val="352B3B"/>
                </a:solidFill>
                <a:latin typeface="Aptos"/>
              </a:defRPr>
            </a:pPr>
            <a:r>
              <a:t>Bisnis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4352544"/>
            <a:ext cx="220370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352B3B"/>
                </a:solidFill>
                <a:latin typeface="Aptos"/>
              </a:defRPr>
            </a:pPr>
            <a:r>
              <a:t>Lowongan terbaru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22208" y="4590288"/>
            <a:ext cx="2203704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4672583"/>
            <a:ext cx="2057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600" b="1">
                <a:solidFill>
                  <a:srgbClr val="352B3B"/>
                </a:solidFill>
                <a:latin typeface="Aptos"/>
              </a:defRPr>
            </a:pPr>
            <a:r>
              <a:t>UI/UX Designer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882896"/>
            <a:ext cx="20574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500" b="0">
                <a:solidFill>
                  <a:srgbClr val="7C6F7D"/>
                </a:solidFill>
                <a:latin typeface="Aptos"/>
              </a:defRPr>
            </a:pPr>
            <a:r>
              <a:t>Studio Kreatif • Rp5–8 jt/bln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22208" y="5257800"/>
            <a:ext cx="2203704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0" y="5340096"/>
            <a:ext cx="2057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600" b="1">
                <a:solidFill>
                  <a:srgbClr val="352B3B"/>
                </a:solidFill>
                <a:latin typeface="Aptos"/>
              </a:defRPr>
            </a:pPr>
            <a:r>
              <a:t>Android Developer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550408"/>
            <a:ext cx="20574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500" b="0">
                <a:solidFill>
                  <a:srgbClr val="7C6F7D"/>
                </a:solidFill>
                <a:latin typeface="Aptos"/>
              </a:defRPr>
            </a:pPr>
            <a:r>
              <a:t>Digital Nusantara • Rp6–10 jt/bln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868680"/>
            <a:ext cx="6126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A35B7B"/>
                </a:solidFill>
                <a:latin typeface="Aptos"/>
              </a:defRPr>
            </a:pPr>
            <a:r>
              <a:t>PRESENTASI APLIKASI ANDROID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417320"/>
            <a:ext cx="658368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4400" b="1">
                <a:solidFill>
                  <a:srgbClr val="352B3B"/>
                </a:solidFill>
                <a:latin typeface="Aptos"/>
              </a:defRPr>
            </a:pPr>
            <a:r>
              <a:t>LOKERKU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331720"/>
            <a:ext cx="6035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300" b="1">
                <a:solidFill>
                  <a:srgbClr val="A35B7B"/>
                </a:solidFill>
                <a:latin typeface="Aptos"/>
              </a:defRPr>
            </a:pPr>
            <a:r>
              <a:t>Temukan karier impianmu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2971800"/>
            <a:ext cx="603504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0">
                <a:solidFill>
                  <a:srgbClr val="7C6F7D"/>
                </a:solidFill>
                <a:latin typeface="Aptos"/>
              </a:defRPr>
            </a:pPr>
            <a:r>
              <a:t>Mengenal fitur, tampilan, alur penggunaan,</a:t>
            </a:r>
            <a:br/>
            <a:r>
              <a:t>dan potensi pengembangan aplikasi Lokerku.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4251960"/>
            <a:ext cx="2468880" cy="502920"/>
          </a:xfrm>
          <a:prstGeom prst="roundRect">
            <a:avLst>
              <a:gd name="adj" fmla="val 12000"/>
            </a:avLst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4407408"/>
            <a:ext cx="2240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CARI  •  SIMPAN  •  LAMAR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108192"/>
            <a:ext cx="6583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7C6F7D"/>
                </a:solidFill>
                <a:latin typeface="Aptos"/>
              </a:defRPr>
            </a:pPr>
            <a:r>
              <a:t>Materi disusun berdasarkan tampilan aplikasi yang diberikan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35B7B"/>
                </a:solidFill>
                <a:latin typeface="Aptos"/>
              </a:defRPr>
            </a:pPr>
            <a:r>
              <a:t>01 • PENGENALAN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0936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352B3B"/>
                </a:solidFill>
                <a:latin typeface="Aptos"/>
              </a:defRPr>
            </a:pPr>
            <a:r>
              <a:t>Apa itu aplikasi Lokerku?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Aplikasi pencarian kerja dengan tampilan lembut, sederhana, dan berfokus pada pengalaman pencari kerja.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017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35B7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83564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176272"/>
            <a:ext cx="58521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400" b="1">
                <a:solidFill>
                  <a:srgbClr val="A35B7B"/>
                </a:solidFill>
                <a:latin typeface="Aptos"/>
              </a:defRPr>
            </a:pPr>
            <a:r>
              <a:t>“Temukan karier impianmu”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99669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700" b="0">
                <a:solidFill>
                  <a:srgbClr val="423A44"/>
                </a:solidFill>
                <a:latin typeface="Aptos"/>
              </a:defRPr>
            </a:pPr>
            <a:r>
              <a:t>Lokerku membantu pengguna menjelajahi lowongan pekerjaan, mencari posisi atau perusahaan, melihat kategori pekerjaan, dan menyimpan lowongan yang menarik.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4069080"/>
            <a:ext cx="31089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88720" y="4288536"/>
            <a:ext cx="64008" cy="393192"/>
          </a:xfrm>
          <a:prstGeom prst="rect">
            <a:avLst/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4251960"/>
            <a:ext cx="2514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52B3B"/>
                </a:solidFill>
                <a:latin typeface="Aptos"/>
              </a:defRPr>
            </a:pPr>
            <a:r>
              <a:t>Nama tampilan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4754880"/>
            <a:ext cx="2596896" cy="2834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7C6F7D"/>
                </a:solidFill>
                <a:latin typeface="Aptos"/>
              </a:defRPr>
            </a:pPr>
            <a:r>
              <a:t>Header menampilkan “Loker Vivin”, sedangkan identitas di beranda bertuliskan “Lokerku”.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69080"/>
            <a:ext cx="31089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90288" y="4288536"/>
            <a:ext cx="64008" cy="393192"/>
          </a:xfrm>
          <a:prstGeom prst="rect">
            <a:avLst/>
          </a:prstGeom>
          <a:solidFill>
            <a:srgbClr val="5B8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4251960"/>
            <a:ext cx="2514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52B3B"/>
                </a:solidFill>
                <a:latin typeface="Aptos"/>
              </a:defRPr>
            </a:pPr>
            <a:r>
              <a:t>Bahasa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754880"/>
            <a:ext cx="2596896" cy="2834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7C6F7D"/>
                </a:solidFill>
                <a:latin typeface="Aptos"/>
              </a:defRPr>
            </a:pPr>
            <a:r>
              <a:t>Antarmuka menggunakan Bahasa Indonesia.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0688" y="4069080"/>
            <a:ext cx="3108960" cy="1078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91856" y="4288536"/>
            <a:ext cx="64008" cy="393192"/>
          </a:xfrm>
          <a:prstGeom prst="rect">
            <a:avLst/>
          </a:prstGeom>
          <a:solidFill>
            <a:srgbClr val="BE9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74736" y="4251960"/>
            <a:ext cx="2514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52B3B"/>
                </a:solidFill>
                <a:latin typeface="Aptos"/>
              </a:defRPr>
            </a:pPr>
            <a:r>
              <a:t>Fokus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4754880"/>
            <a:ext cx="2596896" cy="2834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7C6F7D"/>
                </a:solidFill>
                <a:latin typeface="Aptos"/>
              </a:defRPr>
            </a:pPr>
            <a:r>
              <a:t>Membantu pengguna menemukan dan membandingkan peluang kerja.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510528"/>
            <a:ext cx="10881360" cy="13716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6565392"/>
            <a:ext cx="64008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7C6F7D"/>
                </a:solidFill>
                <a:latin typeface="Aptos"/>
              </a:defRPr>
            </a:pPr>
            <a:r>
              <a:t>LOKERKU  |  PRESENTASI APLIKASI ANDROID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47104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800" b="1">
                <a:solidFill>
                  <a:srgbClr val="A35B7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35B7B"/>
                </a:solidFill>
                <a:latin typeface="Aptos"/>
              </a:defRPr>
            </a:pPr>
            <a:r>
              <a:t>02 • BEDAH TAMPILAN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0936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352B3B"/>
                </a:solidFill>
                <a:latin typeface="Aptos"/>
              </a:defRPr>
            </a:pPr>
            <a:r>
              <a:t>Beranda: pusat aktivitas pengguna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Beranda menyajikan pencarian, banner, kategori, dan daftar lowongan terbaru dalam satu layar.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017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35B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2560320" cy="4526280"/>
          </a:xfrm>
          <a:prstGeom prst="roundRect">
            <a:avLst>
              <a:gd name="adj" fmla="val 12000"/>
            </a:avLst>
          </a:prstGeom>
          <a:solidFill>
            <a:srgbClr val="3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801368"/>
            <a:ext cx="2377439" cy="43068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821484" y="1828800"/>
            <a:ext cx="563270" cy="64008"/>
          </a:xfrm>
          <a:prstGeom prst="roundRect">
            <a:avLst>
              <a:gd name="adj" fmla="val 12000"/>
            </a:avLst>
          </a:prstGeom>
          <a:solidFill>
            <a:srgbClr val="352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039112"/>
            <a:ext cx="2157984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A35B7B"/>
                </a:solidFill>
                <a:latin typeface="Aptos"/>
              </a:defRPr>
            </a:pPr>
            <a:r>
              <a:t>Lokerku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215798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352B3B"/>
                </a:solidFill>
                <a:latin typeface="Aptos"/>
              </a:defRPr>
            </a:pPr>
            <a:r>
              <a:t>Hai, pencari kerja! 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60904"/>
            <a:ext cx="2157984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0">
                <a:solidFill>
                  <a:srgbClr val="7C6F7D"/>
                </a:solidFill>
                <a:latin typeface="Aptos"/>
              </a:defRPr>
            </a:pPr>
            <a:r>
              <a:t>Temukan karier impianmu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971800"/>
            <a:ext cx="2157984" cy="310896"/>
          </a:xfrm>
          <a:prstGeom prst="roundRect">
            <a:avLst>
              <a:gd name="adj" fmla="val 12000"/>
            </a:avLst>
          </a:prstGeom>
          <a:solidFill>
            <a:srgbClr val="FFF7FA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063240"/>
            <a:ext cx="2048255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500" b="0">
                <a:solidFill>
                  <a:srgbClr val="7C6F7D"/>
                </a:solidFill>
                <a:latin typeface="Aptos"/>
              </a:defRPr>
            </a:pPr>
            <a:r>
              <a:t>⌕  Cari posisi atau perusahaan…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29000"/>
            <a:ext cx="2157984" cy="749808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" y="3575304"/>
            <a:ext cx="140268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1">
                <a:solidFill>
                  <a:srgbClr val="352B3B"/>
                </a:solidFill>
                <a:latin typeface="Aptos"/>
              </a:defRPr>
            </a:pPr>
            <a:r>
              <a:t>Karier impianmu</a:t>
            </a:r>
            <a:br/>
            <a:r>
              <a:t>ada di sini!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7876" y="3648456"/>
            <a:ext cx="320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000" b="1">
                <a:solidFill>
                  <a:srgbClr val="A35B7B"/>
                </a:solidFill>
                <a:latin typeface="Aptos"/>
              </a:defRPr>
            </a:pPr>
            <a:r>
              <a:t>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4325112"/>
            <a:ext cx="215798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352B3B"/>
                </a:solidFill>
                <a:latin typeface="Aptos"/>
              </a:defRPr>
            </a:pPr>
            <a:r>
              <a:t>Kategori pekerjaan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4581144"/>
            <a:ext cx="691895" cy="566928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782312"/>
            <a:ext cx="691895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600" b="1">
                <a:solidFill>
                  <a:srgbClr val="352B3B"/>
                </a:solidFill>
                <a:latin typeface="Aptos"/>
              </a:defRPr>
            </a:pPr>
            <a:r>
              <a:t>Desain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61744" y="4581144"/>
            <a:ext cx="691895" cy="566928"/>
          </a:xfrm>
          <a:prstGeom prst="roundRect">
            <a:avLst>
              <a:gd name="adj" fmla="val 12000"/>
            </a:avLst>
          </a:prstGeom>
          <a:solidFill>
            <a:srgbClr val="DD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61744" y="4782312"/>
            <a:ext cx="691895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600" b="1">
                <a:solidFill>
                  <a:srgbClr val="352B3B"/>
                </a:solidFill>
                <a:latin typeface="Aptos"/>
              </a:defRPr>
            </a:pPr>
            <a:r>
              <a:t>Teknologi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99360" y="4581144"/>
            <a:ext cx="691895" cy="566928"/>
          </a:xfrm>
          <a:prstGeom prst="roundRect">
            <a:avLst>
              <a:gd name="adj" fmla="val 12000"/>
            </a:avLst>
          </a:prstGeom>
          <a:solidFill>
            <a:srgbClr val="F8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99360" y="4782312"/>
            <a:ext cx="691895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600" b="1">
                <a:solidFill>
                  <a:srgbClr val="352B3B"/>
                </a:solidFill>
                <a:latin typeface="Aptos"/>
              </a:defRPr>
            </a:pPr>
            <a:r>
              <a:t>Bisnis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312664"/>
            <a:ext cx="2157984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352B3B"/>
                </a:solidFill>
                <a:latin typeface="Aptos"/>
              </a:defRPr>
            </a:pPr>
            <a:r>
              <a:t>Lowongan terbaru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5550408"/>
            <a:ext cx="2157984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5632704"/>
            <a:ext cx="2011679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600" b="1">
                <a:solidFill>
                  <a:srgbClr val="352B3B"/>
                </a:solidFill>
                <a:latin typeface="Aptos"/>
              </a:defRPr>
            </a:pPr>
            <a:r>
              <a:t>UI/UX Designer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843016"/>
            <a:ext cx="2011679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500" b="0">
                <a:solidFill>
                  <a:srgbClr val="7C6F7D"/>
                </a:solidFill>
                <a:latin typeface="Aptos"/>
              </a:defRPr>
            </a:pPr>
            <a:r>
              <a:t>Studio Kreatif • Rp5–8 jt/bln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6217920"/>
            <a:ext cx="2157984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6300216"/>
            <a:ext cx="2011679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600" b="1">
                <a:solidFill>
                  <a:srgbClr val="352B3B"/>
                </a:solidFill>
                <a:latin typeface="Aptos"/>
              </a:defRPr>
            </a:pPr>
            <a:r>
              <a:t>Android Developer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510528"/>
            <a:ext cx="2011679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500" b="0">
                <a:solidFill>
                  <a:srgbClr val="7C6F7D"/>
                </a:solidFill>
                <a:latin typeface="Aptos"/>
              </a:defRPr>
            </a:pPr>
            <a:r>
              <a:t>Digital Nusantara • Rp6–10 jt/bln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9039" y="1783080"/>
            <a:ext cx="36118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904487" y="1947672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50207" y="2075688"/>
            <a:ext cx="3657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A35B7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1929384"/>
            <a:ext cx="2697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52B3B"/>
                </a:solidFill>
                <a:latin typeface="Aptos"/>
              </a:defRPr>
            </a:pPr>
            <a:r>
              <a:t>Identitas aplikasi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2249424"/>
            <a:ext cx="2697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7C6F7D"/>
                </a:solidFill>
                <a:latin typeface="Aptos"/>
              </a:defRPr>
            </a:pPr>
            <a:r>
              <a:t>Logo huruf L, nama Lokerku, dan slogan.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1783080"/>
            <a:ext cx="36118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790688" y="1947672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36408" y="2075688"/>
            <a:ext cx="3657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A35B7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1929384"/>
            <a:ext cx="2697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52B3B"/>
                </a:solidFill>
                <a:latin typeface="Aptos"/>
              </a:defRPr>
            </a:pPr>
            <a:r>
              <a:t>Sapaan personal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1" y="2249424"/>
            <a:ext cx="2697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7C6F7D"/>
                </a:solidFill>
                <a:latin typeface="Aptos"/>
              </a:defRPr>
            </a:pPr>
            <a:r>
              <a:t>“Hai, pencari kerja!” membuat halaman terasa ramah.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49039" y="3172968"/>
            <a:ext cx="36118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3904487" y="3337560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50207" y="3465575"/>
            <a:ext cx="3657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A35B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62272" y="3319272"/>
            <a:ext cx="2697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52B3B"/>
                </a:solidFill>
                <a:latin typeface="Aptos"/>
              </a:defRPr>
            </a:pPr>
            <a:r>
              <a:t>Kolom pencarian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2" y="3639311"/>
            <a:ext cx="2697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7C6F7D"/>
                </a:solidFill>
                <a:latin typeface="Aptos"/>
              </a:defRPr>
            </a:pPr>
            <a:r>
              <a:t>Mencari berdasarkan posisi atau perusahaan.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3172968"/>
            <a:ext cx="36118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7790688" y="3337560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36408" y="3465575"/>
            <a:ext cx="3657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A35B7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1" y="3319272"/>
            <a:ext cx="2697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52B3B"/>
                </a:solidFill>
                <a:latin typeface="Aptos"/>
              </a:defRPr>
            </a:pPr>
            <a:r>
              <a:t>Banner promosi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1" y="3639311"/>
            <a:ext cx="2697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7C6F7D"/>
                </a:solidFill>
                <a:latin typeface="Aptos"/>
              </a:defRPr>
            </a:pPr>
            <a:r>
              <a:t>Ajakan memulai perjalanan karier.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49039" y="4562856"/>
            <a:ext cx="36118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3904487" y="4727448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50207" y="4855464"/>
            <a:ext cx="3657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A35B7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62272" y="4709160"/>
            <a:ext cx="2697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52B3B"/>
                </a:solidFill>
                <a:latin typeface="Aptos"/>
              </a:defRPr>
            </a:pPr>
            <a:r>
              <a:t>Kategori pekerjaan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62272" y="5029200"/>
            <a:ext cx="2697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7C6F7D"/>
                </a:solidFill>
                <a:latin typeface="Aptos"/>
              </a:defRPr>
            </a:pPr>
            <a:r>
              <a:t>Desain, Teknologi, dan Bisnis.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35240" y="4562856"/>
            <a:ext cx="361188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790688" y="4727448"/>
            <a:ext cx="457200" cy="438912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836408" y="4855464"/>
            <a:ext cx="3657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A35B7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48471" y="4709160"/>
            <a:ext cx="26974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352B3B"/>
                </a:solidFill>
                <a:latin typeface="Aptos"/>
              </a:defRPr>
            </a:pPr>
            <a:r>
              <a:t>Lowongan terbaru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8471" y="5029200"/>
            <a:ext cx="26974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7C6F7D"/>
                </a:solidFill>
                <a:latin typeface="Aptos"/>
              </a:defRPr>
            </a:pPr>
            <a:r>
              <a:t>Jabatan, perusahaan, lokasi, tipe kerja, gaji, favorit, dan Detail.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6510528"/>
            <a:ext cx="10881360" cy="13716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76656" y="6565392"/>
            <a:ext cx="64008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7C6F7D"/>
                </a:solidFill>
                <a:latin typeface="Aptos"/>
              </a:defRPr>
            </a:pPr>
            <a:r>
              <a:t>LOKERKU  |  PRESENTASI APLIKASI ANDROID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09960" y="6547104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800" b="1">
                <a:solidFill>
                  <a:srgbClr val="A35B7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35B7B"/>
                </a:solidFill>
                <a:latin typeface="Aptos"/>
              </a:defRPr>
            </a:pPr>
            <a:r>
              <a:t>03 • EKSPLORASI LOWONGAN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0936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352B3B"/>
                </a:solidFill>
                <a:latin typeface="Aptos"/>
              </a:defRPr>
            </a:pPr>
            <a:r>
              <a:t>Pencarian &amp; kategori pekerjaan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Kategori membantu pengguna memulai pencarian berdasarkan bidang yang diminati.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017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35B7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8408" y="2093976"/>
            <a:ext cx="64008" cy="393192"/>
          </a:xfrm>
          <a:prstGeom prst="rect">
            <a:avLst/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2057400"/>
            <a:ext cx="2834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Kolom pencarian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60320"/>
            <a:ext cx="2916936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Teks petunjuk: “Cari posisi atau perusahaan…”.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90288" y="2093976"/>
            <a:ext cx="64008" cy="393192"/>
          </a:xfrm>
          <a:prstGeom prst="rect">
            <a:avLst/>
          </a:prstGeom>
          <a:solidFill>
            <a:srgbClr val="A35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2057400"/>
            <a:ext cx="2834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Desain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560320"/>
            <a:ext cx="2916936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Bidang kreatif, ditandai ikon pensil dan latar merah muda.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74519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02168" y="2093976"/>
            <a:ext cx="64008" cy="393192"/>
          </a:xfrm>
          <a:prstGeom prst="rect">
            <a:avLst/>
          </a:prstGeom>
          <a:solidFill>
            <a:srgbClr val="5B8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2057400"/>
            <a:ext cx="2834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Teknologi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560320"/>
            <a:ext cx="2916936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Kategori teknologi dengan latar hijau mint.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2044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78408" y="3739896"/>
            <a:ext cx="64008" cy="393192"/>
          </a:xfrm>
          <a:prstGeom prst="rect">
            <a:avLst/>
          </a:prstGeom>
          <a:solidFill>
            <a:srgbClr val="BE9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61288" y="3703320"/>
            <a:ext cx="2834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Bisnis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206240"/>
            <a:ext cx="2916936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Kategori bisnis dengan ikon daftar dan latar krem.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20440"/>
            <a:ext cx="7040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3794760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1">
                <a:solidFill>
                  <a:srgbClr val="352B3B"/>
                </a:solidFill>
                <a:latin typeface="Aptos"/>
              </a:defRPr>
            </a:pPr>
            <a:r>
              <a:t>Fungsi “Lihat semua →”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24528"/>
            <a:ext cx="6309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Memberi jalur untuk melihat daftar yang lebih lengkap, sehingga pengguna tidak hanya bergantung pada item yang muncul di beranda.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49240"/>
            <a:ext cx="10607040" cy="658368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5559552"/>
            <a:ext cx="9966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A35B7B"/>
                </a:solidFill>
                <a:latin typeface="Aptos"/>
              </a:defRPr>
            </a:pPr>
            <a:r>
              <a:t>Manfaat: pengguna bisa mulai dari kata kunci atau memilih bidang yang sesuai dengan minat kariernya.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510528"/>
            <a:ext cx="10881360" cy="13716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" y="6565392"/>
            <a:ext cx="64008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7C6F7D"/>
                </a:solidFill>
                <a:latin typeface="Aptos"/>
              </a:defRPr>
            </a:pPr>
            <a:r>
              <a:t>LOKERKU  |  PRESENTASI APLIKASI ANDROID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47104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800" b="1">
                <a:solidFill>
                  <a:srgbClr val="A35B7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35B7B"/>
                </a:solidFill>
                <a:latin typeface="Aptos"/>
              </a:defRPr>
            </a:pPr>
            <a:r>
              <a:t>04 • CONTOH DATA LOWONGAN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0936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352B3B"/>
                </a:solidFill>
                <a:latin typeface="Aptos"/>
              </a:defRPr>
            </a:pPr>
            <a:r>
              <a:t>Lowongan terbaru yang tampil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Dua contoh kartu lowongan yang terlihat pada tampilan aplikasi.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017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35B7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0749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2148840"/>
            <a:ext cx="749808" cy="749808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25296" y="2340864"/>
            <a:ext cx="47548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100" b="1">
                <a:solidFill>
                  <a:srgbClr val="D285A4"/>
                </a:solidFill>
                <a:latin typeface="Aptos"/>
              </a:defRPr>
            </a:pPr>
            <a:r>
              <a:t>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3392" y="2148840"/>
            <a:ext cx="3474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352B3B"/>
                </a:solidFill>
                <a:latin typeface="Aptos"/>
              </a:defRPr>
            </a:pPr>
            <a:r>
              <a:t>UI/UX 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42032"/>
            <a:ext cx="3291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7C6F7D"/>
                </a:solidFill>
                <a:latin typeface="Aptos"/>
              </a:defRPr>
            </a:pPr>
            <a:r>
              <a:t>Studio Kreatif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14884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FFF7FA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02352" y="2276856"/>
            <a:ext cx="34747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000" b="1">
                <a:solidFill>
                  <a:srgbClr val="A35B7B"/>
                </a:solidFill>
                <a:latin typeface="Aptos"/>
              </a:defRPr>
            </a:pPr>
            <a:r>
              <a:t>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46120"/>
            <a:ext cx="4297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423A44"/>
                </a:solidFill>
                <a:latin typeface="Aptos"/>
              </a:defRPr>
            </a:pPr>
            <a:r>
              <a:t>📍  Jakarta • Full-time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767328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61872" y="3867912"/>
            <a:ext cx="2011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D285A4"/>
                </a:solidFill>
                <a:latin typeface="Aptos"/>
              </a:defRPr>
            </a:pPr>
            <a:r>
              <a:t>Rp5–8 juta/bulan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4343400"/>
            <a:ext cx="960120" cy="438912"/>
          </a:xfrm>
          <a:prstGeom prst="roundRect">
            <a:avLst>
              <a:gd name="adj" fmla="val 12000"/>
            </a:avLst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36592" y="4462272"/>
            <a:ext cx="731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773168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7C6F7D"/>
                </a:solidFill>
                <a:latin typeface="Aptos"/>
              </a:defRPr>
            </a:pPr>
            <a:r>
              <a:t>Ikon hati: simpan favorit  •  Detail: buka informasi pekerjaan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874519"/>
            <a:ext cx="50749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29400" y="2148840"/>
            <a:ext cx="749808" cy="749808"/>
          </a:xfrm>
          <a:prstGeom prst="roundRect">
            <a:avLst>
              <a:gd name="adj" fmla="val 12000"/>
            </a:avLst>
          </a:prstGeom>
          <a:solidFill>
            <a:srgbClr val="DD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57416" y="2340864"/>
            <a:ext cx="475488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100" b="1">
                <a:solidFill>
                  <a:srgbClr val="5B856D"/>
                </a:solidFill>
                <a:latin typeface="Aptos"/>
              </a:defRPr>
            </a:pPr>
            <a:r>
              <a:t>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2148840"/>
            <a:ext cx="3474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352B3B"/>
                </a:solidFill>
                <a:latin typeface="Aptos"/>
              </a:defRPr>
            </a:pPr>
            <a:r>
              <a:t>Android 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542032"/>
            <a:ext cx="3291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7C6F7D"/>
                </a:solidFill>
                <a:latin typeface="Aptos"/>
              </a:defRPr>
            </a:pPr>
            <a:r>
              <a:t>Digital Nusantara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0" y="2148840"/>
            <a:ext cx="594360" cy="594360"/>
          </a:xfrm>
          <a:prstGeom prst="roundRect">
            <a:avLst>
              <a:gd name="adj" fmla="val 12000"/>
            </a:avLst>
          </a:prstGeom>
          <a:solidFill>
            <a:srgbClr val="FFF7FA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34472" y="2276856"/>
            <a:ext cx="34747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000" b="1">
                <a:solidFill>
                  <a:srgbClr val="A35B7B"/>
                </a:solidFill>
                <a:latin typeface="Aptos"/>
              </a:defRPr>
            </a:pPr>
            <a:r>
              <a:t>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246120"/>
            <a:ext cx="4297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423A44"/>
                </a:solidFill>
                <a:latin typeface="Aptos"/>
              </a:defRPr>
            </a:pPr>
            <a:r>
              <a:t>📍  Bandung • Full-time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767328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DD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93992" y="3867912"/>
            <a:ext cx="20116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5B856D"/>
                </a:solidFill>
                <a:latin typeface="Aptos"/>
              </a:defRPr>
            </a:pPr>
            <a:r>
              <a:t>Rp6–10 juta/bulan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4343400"/>
            <a:ext cx="960120" cy="438912"/>
          </a:xfrm>
          <a:prstGeom prst="roundRect">
            <a:avLst>
              <a:gd name="adj" fmla="val 12000"/>
            </a:avLst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68712" y="4462272"/>
            <a:ext cx="731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Detail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773168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7C6F7D"/>
                </a:solidFill>
                <a:latin typeface="Aptos"/>
              </a:defRPr>
            </a:pPr>
            <a:r>
              <a:t>Ikon hati: simpan favorit  •  Detail: buka informasi pekerjaan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468112"/>
            <a:ext cx="10607040" cy="530352"/>
          </a:xfrm>
          <a:prstGeom prst="roundRect">
            <a:avLst>
              <a:gd name="adj" fmla="val 12000"/>
            </a:avLst>
          </a:prstGeom>
          <a:solidFill>
            <a:srgbClr val="F8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4128" y="5641848"/>
            <a:ext cx="10058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352B3B"/>
                </a:solidFill>
                <a:latin typeface="Aptos"/>
              </a:defRPr>
            </a:pPr>
            <a:r>
              <a:t>Catatan: data di atas mengikuti contoh yang tampil di aplikasi dan bukan verifikasi lowongan nyata.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6510528"/>
            <a:ext cx="10881360" cy="13716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" y="6565392"/>
            <a:ext cx="64008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7C6F7D"/>
                </a:solidFill>
                <a:latin typeface="Aptos"/>
              </a:defRPr>
            </a:pPr>
            <a:r>
              <a:t>LOKERKU  |  PRESENTASI APLIKASI ANDROID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47104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800" b="1">
                <a:solidFill>
                  <a:srgbClr val="A35B7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35B7B"/>
                </a:solidFill>
                <a:latin typeface="Aptos"/>
              </a:defRPr>
            </a:pPr>
            <a:r>
              <a:t>05 • NAVIGASI APLIKASI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0936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352B3B"/>
                </a:solidFill>
                <a:latin typeface="Aptos"/>
              </a:defRPr>
            </a:pPr>
            <a:r>
              <a:t>Empat menu utama di bagian bawah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Navigasi bawah memberi akses cepat ke fungsi inti aplikasi.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017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35B7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03120"/>
            <a:ext cx="24231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581912" y="242316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01368" y="2633472"/>
            <a:ext cx="56692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800" b="1">
                <a:solidFill>
                  <a:srgbClr val="A35B7B"/>
                </a:solidFill>
                <a:latin typeface="Aptos"/>
              </a:defRPr>
            </a:pPr>
            <a:r>
              <a:t>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611880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700" b="1">
                <a:solidFill>
                  <a:srgbClr val="352B3B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41648"/>
            <a:ext cx="1965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7C6F7D"/>
                </a:solidFill>
                <a:latin typeface="Aptos"/>
              </a:defRPr>
            </a:pPr>
            <a:r>
              <a:t>Kembali ke beranda untuk melihat kategori dan lowongan terbaru.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103120"/>
            <a:ext cx="24231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70832" y="242316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DD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633472"/>
            <a:ext cx="56692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800" b="1">
                <a:solidFill>
                  <a:srgbClr val="5B856D"/>
                </a:solidFill>
                <a:latin typeface="Aptos"/>
              </a:defRPr>
            </a:pPr>
            <a:r>
              <a:t>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3611880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700" b="1">
                <a:solidFill>
                  <a:srgbClr val="352B3B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041648"/>
            <a:ext cx="1965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7C6F7D"/>
                </a:solidFill>
                <a:latin typeface="Aptos"/>
              </a:defRPr>
            </a:pPr>
            <a:r>
              <a:t>Membuka area pencarian pekerjaan.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103120"/>
            <a:ext cx="24231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59752" y="242316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EEE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9208" y="2633472"/>
            <a:ext cx="56692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800" b="1">
                <a:solidFill>
                  <a:srgbClr val="A35B7B"/>
                </a:solidFill>
                <a:latin typeface="Aptos"/>
              </a:defRPr>
            </a:pPr>
            <a:r>
              <a:t>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3611880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700" b="1">
                <a:solidFill>
                  <a:srgbClr val="352B3B"/>
                </a:solidFill>
                <a:latin typeface="Aptos"/>
              </a:defRPr>
            </a:pPr>
            <a:r>
              <a:t>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041648"/>
            <a:ext cx="1965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7C6F7D"/>
                </a:solidFill>
                <a:latin typeface="Aptos"/>
              </a:defRPr>
            </a:pPr>
            <a:r>
              <a:t>Mengakses lowongan yang ditandai sebagai favorit.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39" y="2103120"/>
            <a:ext cx="2423160" cy="2560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948671" y="242316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F8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68127" y="2633472"/>
            <a:ext cx="56692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800" b="1">
                <a:solidFill>
                  <a:srgbClr val="BE9C53"/>
                </a:solidFill>
                <a:latin typeface="Aptos"/>
              </a:defRPr>
            </a:pPr>
            <a:r>
              <a:t>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1" y="3611880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700" b="1">
                <a:solidFill>
                  <a:srgbClr val="352B3B"/>
                </a:solidFill>
                <a:latin typeface="Aptos"/>
              </a:defRPr>
            </a:pPr>
            <a:r>
              <a:t>Profil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39" y="4041648"/>
            <a:ext cx="1965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7C6F7D"/>
                </a:solidFill>
                <a:latin typeface="Aptos"/>
              </a:defRPr>
            </a:pPr>
            <a:r>
              <a:t>Melihat atau mengelola informasi profil pengguna.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166360"/>
            <a:ext cx="10744200" cy="731520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394960"/>
            <a:ext cx="10241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600" b="1">
                <a:solidFill>
                  <a:srgbClr val="A35B7B"/>
                </a:solidFill>
                <a:latin typeface="Aptos"/>
              </a:defRPr>
            </a:pPr>
            <a:r>
              <a:t>Home  •  Search  •  Saved  •  Profil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510528"/>
            <a:ext cx="10881360" cy="13716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6565392"/>
            <a:ext cx="64008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7C6F7D"/>
                </a:solidFill>
                <a:latin typeface="Aptos"/>
              </a:defRPr>
            </a:pPr>
            <a:r>
              <a:t>LOKERKU  |  PRESENTASI APLIKASI ANDROID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47104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800" b="1">
                <a:solidFill>
                  <a:srgbClr val="A35B7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35B7B"/>
                </a:solidFill>
                <a:latin typeface="Aptos"/>
              </a:defRPr>
            </a:pPr>
            <a:r>
              <a:t>06 • ALUR PENGGUNAAN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0936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352B3B"/>
                </a:solidFill>
                <a:latin typeface="Aptos"/>
              </a:defRPr>
            </a:pPr>
            <a:r>
              <a:t>Dari menemukan lowongan hingga membuka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Urutan penggunaan berdasarkan elemen yang terlihat pada beranda.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017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35B7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566928" cy="530352"/>
          </a:xfrm>
          <a:prstGeom prst="roundRect">
            <a:avLst>
              <a:gd name="adj" fmla="val 12000"/>
            </a:avLst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984248"/>
            <a:ext cx="393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56231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Buka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56231"/>
            <a:ext cx="7040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Lihat banner, kategori, dan daftar lowongan terbaru.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" y="2377440"/>
            <a:ext cx="64008" cy="210312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633472"/>
            <a:ext cx="566928" cy="530352"/>
          </a:xfrm>
          <a:prstGeom prst="roundRect">
            <a:avLst>
              <a:gd name="adj" fmla="val 12000"/>
            </a:avLst>
          </a:prstGeom>
          <a:solidFill>
            <a:srgbClr val="5B8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788920"/>
            <a:ext cx="393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60903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Pilih cara mencari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60903"/>
            <a:ext cx="7040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Gunakan kolom pencarian atau kategori Desain, Teknologi, dan Bisnis.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5568" y="3182112"/>
            <a:ext cx="64008" cy="210312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" y="3438144"/>
            <a:ext cx="566928" cy="530352"/>
          </a:xfrm>
          <a:prstGeom prst="roundRect">
            <a:avLst>
              <a:gd name="adj" fmla="val 12000"/>
            </a:avLst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3593591"/>
            <a:ext cx="393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465575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Bandingkan lowongan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465575"/>
            <a:ext cx="7040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Periksa jabatan, perusahaan, lokasi, tipe kerja, dan kisaran gaji.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568" y="3986783"/>
            <a:ext cx="64008" cy="210312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680" y="4242816"/>
            <a:ext cx="566928" cy="530352"/>
          </a:xfrm>
          <a:prstGeom prst="roundRect">
            <a:avLst>
              <a:gd name="adj" fmla="val 12000"/>
            </a:avLst>
          </a:prstGeom>
          <a:solidFill>
            <a:srgbClr val="5B8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4398264"/>
            <a:ext cx="393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70248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Simpan favorit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270248"/>
            <a:ext cx="7040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Tekan ikon hati pada kartu lowongan yang menarik.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568" y="4791456"/>
            <a:ext cx="64008" cy="210312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68680" y="5047488"/>
            <a:ext cx="566928" cy="530352"/>
          </a:xfrm>
          <a:prstGeom prst="roundRect">
            <a:avLst>
              <a:gd name="adj" fmla="val 12000"/>
            </a:avLst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0976" y="5202936"/>
            <a:ext cx="393192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074920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Buka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074920"/>
            <a:ext cx="70408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Tekan tombol Detail untuk membaca informasi pekerjaan lebih lanjut.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989320"/>
            <a:ext cx="10332720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4128" y="6071616"/>
            <a:ext cx="99669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35B7B"/>
                </a:solidFill>
                <a:latin typeface="Aptos"/>
              </a:defRPr>
            </a:pPr>
            <a:r>
              <a:t>Catatan: alur setelah membuka detail tidak diasumsikan karena layar lanjutan tidak tampak di foto.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510528"/>
            <a:ext cx="10881360" cy="13716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6565392"/>
            <a:ext cx="64008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7C6F7D"/>
                </a:solidFill>
                <a:latin typeface="Aptos"/>
              </a:defRPr>
            </a:pPr>
            <a:r>
              <a:t>LOKERKU  |  PRESENTASI APLIKASI ANDROID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547104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800" b="1">
                <a:solidFill>
                  <a:srgbClr val="A35B7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35B7B"/>
                </a:solidFill>
                <a:latin typeface="Aptos"/>
              </a:defRPr>
            </a:pPr>
            <a:r>
              <a:t>07 • DESAIN ANTARMUKA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0936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352B3B"/>
                </a:solidFill>
                <a:latin typeface="Aptos"/>
              </a:defRPr>
            </a:pPr>
            <a:r>
              <a:t>Identitas visual yang ramah dan lembut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Warna dan susunan elemen membedakan bagian penting di beranda.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017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35B7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1">
                <a:solidFill>
                  <a:srgbClr val="352B3B"/>
                </a:solidFill>
                <a:latin typeface="Aptos"/>
              </a:defRPr>
            </a:pPr>
            <a:r>
              <a:t>Palet warna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23160"/>
            <a:ext cx="1645920" cy="530352"/>
          </a:xfrm>
          <a:prstGeom prst="roundRect">
            <a:avLst>
              <a:gd name="adj" fmla="val 12000"/>
            </a:avLst>
          </a:prstGeom>
          <a:solidFill>
            <a:srgbClr val="D285A4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044952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7C6F7D"/>
                </a:solidFill>
                <a:latin typeface="Aptos"/>
              </a:defRPr>
            </a:pPr>
            <a:r>
              <a:t>Merah muda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423160"/>
            <a:ext cx="1645920" cy="530352"/>
          </a:xfrm>
          <a:prstGeom prst="roundRect">
            <a:avLst>
              <a:gd name="adj" fmla="val 12000"/>
            </a:avLst>
          </a:prstGeom>
          <a:solidFill>
            <a:srgbClr val="DDEFE5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3044952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7C6F7D"/>
                </a:solidFill>
                <a:latin typeface="Aptos"/>
              </a:defRPr>
            </a:pPr>
            <a:r>
              <a:t>Hijau mint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423160"/>
            <a:ext cx="1645920" cy="530352"/>
          </a:xfrm>
          <a:prstGeom prst="roundRect">
            <a:avLst>
              <a:gd name="adj" fmla="val 12000"/>
            </a:avLst>
          </a:prstGeom>
          <a:solidFill>
            <a:srgbClr val="F8F4DA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3044952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7C6F7D"/>
                </a:solidFill>
                <a:latin typeface="Aptos"/>
              </a:defRPr>
            </a:pPr>
            <a:r>
              <a:t>Krem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520439"/>
            <a:ext cx="1645920" cy="530352"/>
          </a:xfrm>
          <a:prstGeom prst="roundRect">
            <a:avLst>
              <a:gd name="adj" fmla="val 12000"/>
            </a:avLst>
          </a:prstGeom>
          <a:solidFill>
            <a:srgbClr val="EEE4F3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7C6F7D"/>
                </a:solidFill>
                <a:latin typeface="Aptos"/>
              </a:defRPr>
            </a:pPr>
            <a:r>
              <a:t>Lilac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520439"/>
            <a:ext cx="16459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4142231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7C6F7D"/>
                </a:solidFill>
                <a:latin typeface="Aptos"/>
              </a:defRPr>
            </a:pPr>
            <a:r>
              <a:t>Putih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874519"/>
            <a:ext cx="4160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50607" y="2093976"/>
            <a:ext cx="64008" cy="393192"/>
          </a:xfrm>
          <a:prstGeom prst="rect">
            <a:avLst/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33488" y="2057400"/>
            <a:ext cx="3566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Tipografi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2560320"/>
            <a:ext cx="3648456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Judul tegas, teks pendukung lebih ringan.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474720"/>
            <a:ext cx="41605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50607" y="3694176"/>
            <a:ext cx="64008" cy="393192"/>
          </a:xfrm>
          <a:prstGeom prst="rect">
            <a:avLst/>
          </a:prstGeom>
          <a:solidFill>
            <a:srgbClr val="5B8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3488" y="3657600"/>
            <a:ext cx="35661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Kartu &amp; ikon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4160520"/>
            <a:ext cx="3648456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Sudut membulat dan ikon hati memudahkan pemindaian.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074920"/>
            <a:ext cx="102412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528523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A35B7B"/>
                </a:solidFill>
                <a:latin typeface="Aptos"/>
              </a:defRPr>
            </a:pPr>
            <a:r>
              <a:t>Prinsip desain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266944"/>
            <a:ext cx="7863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352B3B"/>
                </a:solidFill>
                <a:latin typeface="Aptos"/>
              </a:defRPr>
            </a:pPr>
            <a:r>
              <a:t>Informasi disusun bertingkat: sapaan → pencarian → kategori → lowongan terbaru.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510528"/>
            <a:ext cx="10881360" cy="13716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6565392"/>
            <a:ext cx="64008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7C6F7D"/>
                </a:solidFill>
                <a:latin typeface="Aptos"/>
              </a:defRPr>
            </a:pPr>
            <a:r>
              <a:t>LOKERKU  |  PRESENTASI APLIKASI ANDROID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47104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800" b="1">
                <a:solidFill>
                  <a:srgbClr val="A35B7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35B7B"/>
                </a:solidFill>
                <a:latin typeface="Aptos"/>
              </a:defRPr>
            </a:pPr>
            <a:r>
              <a:t>08 • ANALISIS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30936"/>
            <a:ext cx="10972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352B3B"/>
                </a:solidFill>
                <a:latin typeface="Aptos"/>
              </a:defRPr>
            </a:pPr>
            <a:r>
              <a:t>Manfaat dan peluang pengembangan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Analisis berdasarkan elemen yang tampak pada aplikasi.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0175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A35B7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50749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78408" y="2093976"/>
            <a:ext cx="64008" cy="393192"/>
          </a:xfrm>
          <a:prstGeom prst="rect">
            <a:avLst/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2057400"/>
            <a:ext cx="44805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Kelebihan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560320"/>
            <a:ext cx="4562856" cy="107899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• Kolom pencarian terlihat jelas</a:t>
            </a:r>
            <a:br/>
            <a:r>
              <a:t>• Kategori mudah dikenali melalui warna</a:t>
            </a:r>
            <a:br/>
            <a:r>
              <a:t>• Informasi inti lowongan tampil di kartu</a:t>
            </a:r>
            <a:br/>
            <a:r>
              <a:t>• Menu Saved memberi akses ke favorit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0749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3368" y="2093976"/>
            <a:ext cx="64008" cy="393192"/>
          </a:xfrm>
          <a:prstGeom prst="rect">
            <a:avLst/>
          </a:prstGeom>
          <a:solidFill>
            <a:srgbClr val="5B8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2057400"/>
            <a:ext cx="4480559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Pengalaman pengguna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560320"/>
            <a:ext cx="4562856" cy="107899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• Ada tautan “Lihat semua”</a:t>
            </a:r>
            <a:br/>
            <a:r>
              <a:t>• Tombol Detail memberi langkah lanjutan</a:t>
            </a:r>
            <a:br/>
            <a:r>
              <a:t>• Navigasi bawah ringkas</a:t>
            </a:r>
            <a:br/>
            <a:r>
              <a:t>• Kisaran gaji tampak tanpa membuka detail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60520"/>
            <a:ext cx="1046988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B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07408"/>
            <a:ext cx="2286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A35B7B"/>
                </a:solidFill>
                <a:latin typeface="Aptos"/>
              </a:defRPr>
            </a:pPr>
            <a:r>
              <a:t>Saran pengembangan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315968"/>
            <a:ext cx="7315200" cy="960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423A44"/>
                </a:solidFill>
                <a:latin typeface="Aptos"/>
              </a:defRPr>
            </a:pPr>
            <a:r>
              <a:t>•  Tambahkan filter lokasi, gaji, dan tipe pekerjaan.</a:t>
            </a:r>
          </a:p>
          <a:p>
            <a:pPr>
              <a:spcAft>
                <a:spcPts val="700"/>
              </a:spcAft>
              <a:defRPr sz="1200">
                <a:solidFill>
                  <a:srgbClr val="423A44"/>
                </a:solidFill>
                <a:latin typeface="Aptos"/>
              </a:defRPr>
            </a:pPr>
            <a:r>
              <a:t>•  Perjelas status saat lowongan disimpan atau lamaran dikirim.</a:t>
            </a:r>
          </a:p>
          <a:p>
            <a:pPr>
              <a:spcAft>
                <a:spcPts val="700"/>
              </a:spcAft>
              <a:defRPr sz="1200">
                <a:solidFill>
                  <a:srgbClr val="423A44"/>
                </a:solidFill>
                <a:latin typeface="Aptos"/>
              </a:defRPr>
            </a:pPr>
            <a:r>
              <a:t>•  Pastikan data lowongan, perusahaan, dan gaji selalu diperbarui.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332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7C6F7D"/>
                </a:solidFill>
                <a:latin typeface="Aptos"/>
              </a:defRPr>
            </a:pPr>
            <a:r>
              <a:t>Saran ini merupakan rekomendasi untuk pengembangan berikutnya.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510528"/>
            <a:ext cx="10881360" cy="13716"/>
          </a:xfrm>
          <a:prstGeom prst="rect">
            <a:avLst/>
          </a:prstGeom>
          <a:solidFill>
            <a:srgbClr val="EB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6565392"/>
            <a:ext cx="64008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700" b="1">
                <a:solidFill>
                  <a:srgbClr val="7C6F7D"/>
                </a:solidFill>
                <a:latin typeface="Aptos"/>
              </a:defRPr>
            </a:pPr>
            <a:r>
              <a:t>LOKERKU  |  PRESENTASI APLIKASI ANDROID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3657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800" b="1">
                <a:solidFill>
                  <a:srgbClr val="A35B7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09560" y="-274320"/>
            <a:ext cx="4572000" cy="7315200"/>
          </a:xfrm>
          <a:prstGeom prst="roundRect">
            <a:avLst>
              <a:gd name="adj" fmla="val 12000"/>
            </a:avLst>
          </a:prstGeom>
          <a:solidFill>
            <a:srgbClr val="A35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F5CCDE"/>
                </a:solidFill>
                <a:latin typeface="Aptos"/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34440"/>
            <a:ext cx="768096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Lokerku membantu pencari kerja</a:t>
            </a:r>
            <a:br/>
            <a:r>
              <a:t>memulai langkah menuju karier.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52928"/>
            <a:ext cx="658368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F2E5ED"/>
                </a:solidFill>
                <a:latin typeface="Aptos"/>
              </a:defRPr>
            </a:pPr>
            <a:r>
              <a:t>Pengguna dapat mencari posisi atau perusahaan, menjelajahi kategori Desain/Teknologi/Bisnis, membandingkan lowongan, menyimpan favorit, dan membuka detail pekerjaan.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315968"/>
            <a:ext cx="2194560" cy="502920"/>
          </a:xfrm>
          <a:prstGeom prst="roundRect">
            <a:avLst>
              <a:gd name="adj" fmla="val 12000"/>
            </a:avLst>
          </a:prstGeom>
          <a:solidFill>
            <a:srgbClr val="D28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4480560"/>
            <a:ext cx="187451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TERIMA KASIH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234440"/>
            <a:ext cx="2651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7072" y="1572768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7C6F7D"/>
                </a:solidFill>
                <a:latin typeface="Aptos"/>
              </a:defRPr>
            </a:pPr>
            <a:r>
              <a:t>Cari posisi…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514600"/>
            <a:ext cx="2651760" cy="1051560"/>
          </a:xfrm>
          <a:prstGeom prst="roundRect">
            <a:avLst>
              <a:gd name="adj" fmla="val 12000"/>
            </a:avLst>
          </a:prstGeom>
          <a:solidFill>
            <a:srgbClr val="FA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77072" y="2743200"/>
            <a:ext cx="21031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352B3B"/>
                </a:solidFill>
                <a:latin typeface="Aptos"/>
              </a:defRPr>
            </a:pPr>
            <a:r>
              <a:t>Karier impianmu</a:t>
            </a:r>
            <a:br/>
            <a:r>
              <a:t>ada di sini!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840480"/>
            <a:ext cx="2651760" cy="658368"/>
          </a:xfrm>
          <a:prstGeom prst="roundRect">
            <a:avLst>
              <a:gd name="adj" fmla="val 12000"/>
            </a:avLst>
          </a:prstGeom>
          <a:solidFill>
            <a:srgbClr val="DDE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4069080"/>
            <a:ext cx="24688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900" b="1">
                <a:solidFill>
                  <a:srgbClr val="352B3B"/>
                </a:solidFill>
                <a:latin typeface="Aptos"/>
              </a:defRPr>
            </a:pPr>
            <a:r>
              <a:t>Desain   Teknologi   Bisnis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5943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E1CDDD"/>
                </a:solidFill>
                <a:latin typeface="Aptos"/>
              </a:defRPr>
            </a:pPr>
            <a:r>
              <a:t>LOKERKU • TEMUKAN KARIER IMPIANMU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1009</Words>
  <Application>Microsoft Office PowerPoint</Application>
  <PresentationFormat>Widescreen</PresentationFormat>
  <Paragraphs>211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1</cp:revision>
  <dcterms:created xsi:type="dcterms:W3CDTF">2013-01-27T09:14:16Z</dcterms:created>
  <dcterms:modified xsi:type="dcterms:W3CDTF">2026-10-21T17:00:26Z</dcterms:modified>
  <cp:category/>
</cp:coreProperties>
</file>